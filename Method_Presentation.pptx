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7" r:id="rId4"/>
    <p:sldId id="267" r:id="rId5"/>
    <p:sldId id="258" r:id="rId6"/>
    <p:sldId id="259" r:id="rId7"/>
    <p:sldId id="260" r:id="rId8"/>
    <p:sldId id="261" r:id="rId9"/>
    <p:sldId id="264" r:id="rId10"/>
    <p:sldId id="263" r:id="rId11"/>
    <p:sldId id="269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kLiJ874U+qjx8hERP6V30wbfq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C4C"/>
    <a:srgbClr val="51B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8599E-3F3D-4580-96D9-694DDE53B736}" v="15" dt="2026-05-15T23:50:00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4" d="100"/>
          <a:sy n="44" d="100"/>
        </p:scale>
        <p:origin x="1500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BBFC9113-DA7C-0938-B33C-A8541323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90e42e21_0_25:notes">
            <a:extLst>
              <a:ext uri="{FF2B5EF4-FFF2-40B4-BE49-F238E27FC236}">
                <a16:creationId xmlns:a16="http://schemas.microsoft.com/office/drawing/2014/main" id="{6B765E76-5886-2BA4-0F00-3E5E09FA4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e090e42e21_0_25:notes">
            <a:extLst>
              <a:ext uri="{FF2B5EF4-FFF2-40B4-BE49-F238E27FC236}">
                <a16:creationId xmlns:a16="http://schemas.microsoft.com/office/drawing/2014/main" id="{417EC8A8-69A0-2046-BAA1-AD42E0A70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534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90e42e2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e090e42e2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9adfce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da9adfce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362771B1-DF44-4CAA-ACFC-000F96BC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90e42e21_0_25:notes">
            <a:extLst>
              <a:ext uri="{FF2B5EF4-FFF2-40B4-BE49-F238E27FC236}">
                <a16:creationId xmlns:a16="http://schemas.microsoft.com/office/drawing/2014/main" id="{9744A2EA-2752-E564-1157-2833C822C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Started from a synthetic healthcare dataset and transformed it into a daily operational capacity time series by aggregating flows and adding calendar features for forecasting / risk modeling.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fontAlgn="t">
              <a:lnSpc>
                <a:spcPts val="1500"/>
              </a:lnSpc>
              <a:buNone/>
            </a:pPr>
            <a:r>
              <a:rPr lang="en-US" b="1" i="0" dirty="0">
                <a:effectLst/>
                <a:latin typeface="Segoe UI" panose="020B0502040204020203" pitchFamily="34" charset="0"/>
              </a:rPr>
              <a:t>Data Engineering Steps:</a:t>
            </a:r>
            <a:endParaRPr lang="en-US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Aggregated to </a:t>
            </a:r>
            <a:r>
              <a:rPr lang="en-US" b="1" i="0" dirty="0">
                <a:effectLst/>
                <a:latin typeface="Segoe UI" panose="020B0502040204020203" pitchFamily="34" charset="0"/>
              </a:rPr>
              <a:t>daily level</a:t>
            </a:r>
            <a:endParaRPr lang="en-US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Created flow variables: 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Admissions/day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Discharges/day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Net flow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Derived capacity signal: 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Rooms occupied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Added </a:t>
            </a:r>
            <a:r>
              <a:rPr lang="en-US" b="1" i="0" dirty="0">
                <a:effectLst/>
                <a:latin typeface="Segoe UI" panose="020B0502040204020203" pitchFamily="34" charset="0"/>
              </a:rPr>
              <a:t>time intelligence:</a:t>
            </a:r>
            <a:r>
              <a:rPr lang="en-US" b="0" i="0" dirty="0">
                <a:effectLst/>
                <a:latin typeface="Segoe UI" panose="020B0502040204020203" pitchFamily="34" charset="0"/>
              </a:rPr>
              <a:t> 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Day of week, weekend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Month, week of year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Cyclical encoding (sin/cos)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3" name="Google Shape;83;g3e090e42e21_0_25:notes">
            <a:extLst>
              <a:ext uri="{FF2B5EF4-FFF2-40B4-BE49-F238E27FC236}">
                <a16:creationId xmlns:a16="http://schemas.microsoft.com/office/drawing/2014/main" id="{724F919B-DF92-7407-A478-30F5E4FC8E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9833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E63E1385-C543-AC5E-5D2C-B57AA158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090e42e21_0_25:notes">
            <a:extLst>
              <a:ext uri="{FF2B5EF4-FFF2-40B4-BE49-F238E27FC236}">
                <a16:creationId xmlns:a16="http://schemas.microsoft.com/office/drawing/2014/main" id="{57C0B3C8-5F38-8A11-64FC-EDADFBFE8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g3e090e42e21_0_25:notes">
            <a:extLst>
              <a:ext uri="{FF2B5EF4-FFF2-40B4-BE49-F238E27FC236}">
                <a16:creationId xmlns:a16="http://schemas.microsoft.com/office/drawing/2014/main" id="{9652C48D-43FF-7BA0-4BE7-96AC9E01E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8257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090e42e2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g3e090e42e2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234ECCE-EE0C-917A-38F1-63E90F2F5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>
            <a:extLst>
              <a:ext uri="{FF2B5EF4-FFF2-40B4-BE49-F238E27FC236}">
                <a16:creationId xmlns:a16="http://schemas.microsoft.com/office/drawing/2014/main" id="{66887AFA-D15D-841E-EA8F-11934C805D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5:notes">
            <a:extLst>
              <a:ext uri="{FF2B5EF4-FFF2-40B4-BE49-F238E27FC236}">
                <a16:creationId xmlns:a16="http://schemas.microsoft.com/office/drawing/2014/main" id="{44DE4E5F-C0DD-E032-60D1-50BA836DB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070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EE8BE48A-2062-E575-08E1-B784518B1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:notes">
            <a:extLst>
              <a:ext uri="{FF2B5EF4-FFF2-40B4-BE49-F238E27FC236}">
                <a16:creationId xmlns:a16="http://schemas.microsoft.com/office/drawing/2014/main" id="{B5F1DCE5-7781-2724-2ABC-BF41070FC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5:notes">
            <a:extLst>
              <a:ext uri="{FF2B5EF4-FFF2-40B4-BE49-F238E27FC236}">
                <a16:creationId xmlns:a16="http://schemas.microsoft.com/office/drawing/2014/main" id="{6F311278-0847-7FE0-C947-2F5DA5906D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449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5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7"/>
          <p:cNvSpPr txBox="1"/>
          <p:nvPr/>
        </p:nvSpPr>
        <p:spPr>
          <a:xfrm>
            <a:off x="190500" y="6515100"/>
            <a:ext cx="17112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Caterpillar: Confidential Green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kaggle.com/datasets/prasad22/healthcare-dataset" TargetMode="External"/><Relationship Id="rId5" Type="http://schemas.openxmlformats.org/officeDocument/2006/relationships/hyperlink" Target="https://www.vecteezy.com/vector-art/13466376-data-transformation-blue-gradient-concept-icon-data-mining-process-abstract-idea-thin-line-illustration-changing-format-and-structure-isolated-outline-drawing" TargetMode="Externa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qna.wellkeptbra.com/multi-classification-machine-learning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AE4FD70F-AA50-022E-83BE-A27A2BAD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90e42e21_0_25">
            <a:extLst>
              <a:ext uri="{FF2B5EF4-FFF2-40B4-BE49-F238E27FC236}">
                <a16:creationId xmlns:a16="http://schemas.microsoft.com/office/drawing/2014/main" id="{6071232C-D95A-4C93-3FF9-9F75C6E4A36F}"/>
              </a:ext>
            </a:extLst>
          </p:cNvPr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8C5DF-3F93-2734-312C-813F5E81A156}"/>
              </a:ext>
            </a:extLst>
          </p:cNvPr>
          <p:cNvSpPr txBox="1"/>
          <p:nvPr/>
        </p:nvSpPr>
        <p:spPr>
          <a:xfrm>
            <a:off x="0" y="1048105"/>
            <a:ext cx="12061200" cy="21236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/>
              <a:t>“For each additional patient added to a nurse’s workload, the odds of a patient dying within 30 days increased by 16%”</a:t>
            </a:r>
          </a:p>
          <a:p>
            <a:pPr algn="ctr"/>
            <a:endParaRPr lang="en-US" sz="1600" i="1" dirty="0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r>
              <a:rPr lang="en-US" sz="1600" i="1" dirty="0">
                <a:solidFill>
                  <a:schemeClr val="bg1">
                    <a:lumMod val="65000"/>
                  </a:schemeClr>
                </a:solidFill>
              </a:rPr>
              <a:t>Lasater et al.(2021) </a:t>
            </a:r>
          </a:p>
          <a:p>
            <a:pPr algn="ctr"/>
            <a:r>
              <a:rPr lang="en-US" sz="1600" i="1" dirty="0">
                <a:solidFill>
                  <a:schemeClr val="bg1">
                    <a:lumMod val="65000"/>
                  </a:schemeClr>
                </a:solidFill>
              </a:rPr>
              <a:t>Nurse staffing on medical-surgical units across Illinois hospitals</a:t>
            </a:r>
          </a:p>
          <a:p>
            <a:pPr algn="ctr"/>
            <a:endParaRPr lang="en-US" sz="2800" i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2ECF71-CE1C-B066-80B1-67E7E665AD27}"/>
              </a:ext>
            </a:extLst>
          </p:cNvPr>
          <p:cNvCxnSpPr>
            <a:cxnSpLocks/>
          </p:cNvCxnSpPr>
          <p:nvPr/>
        </p:nvCxnSpPr>
        <p:spPr>
          <a:xfrm>
            <a:off x="195453" y="2925542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Pulse Line Accent">
            <a:extLst>
              <a:ext uri="{FF2B5EF4-FFF2-40B4-BE49-F238E27FC236}">
                <a16:creationId xmlns:a16="http://schemas.microsoft.com/office/drawing/2014/main" id="{F26D872A-6142-6DCD-1B65-C80E8F88BC68}"/>
              </a:ext>
            </a:extLst>
          </p:cNvPr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816B10-6CBC-DCD4-6F68-51656580C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356" y="3171763"/>
            <a:ext cx="4680488" cy="34170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EB2436-5A9B-171C-899D-6157DF8CA3F8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is this important?</a:t>
            </a:r>
          </a:p>
        </p:txBody>
      </p:sp>
    </p:spTree>
    <p:extLst>
      <p:ext uri="{BB962C8B-B14F-4D97-AF65-F5344CB8AC3E}">
        <p14:creationId xmlns:p14="http://schemas.microsoft.com/office/powerpoint/2010/main" val="355949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90e42e21_0_25"/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35FB0-47A7-AB7D-E5F2-F8A3EA70BBB1}"/>
              </a:ext>
            </a:extLst>
          </p:cNvPr>
          <p:cNvSpPr txBox="1"/>
          <p:nvPr/>
        </p:nvSpPr>
        <p:spPr>
          <a:xfrm>
            <a:off x="65400" y="449312"/>
            <a:ext cx="11804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Machine Learning Methods for Healthcare Operations Risk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15023-E781-F0E8-0D8A-07C7AE841099}"/>
              </a:ext>
            </a:extLst>
          </p:cNvPr>
          <p:cNvSpPr txBox="1"/>
          <p:nvPr/>
        </p:nvSpPr>
        <p:spPr>
          <a:xfrm>
            <a:off x="63875" y="930245"/>
            <a:ext cx="12061200" cy="58477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r>
              <a:rPr lang="en-US" sz="2000" b="1" dirty="0"/>
              <a:t>Operational Definition: </a:t>
            </a:r>
            <a:r>
              <a:rPr lang="en-US" sz="2000" dirty="0"/>
              <a:t>Capacity risk in healthcare is the threat that patient care demands will exceed the available clinical staffing or their capabilities. </a:t>
            </a:r>
          </a:p>
          <a:p>
            <a:endParaRPr lang="en-US" sz="2000" dirty="0"/>
          </a:p>
          <a:p>
            <a:r>
              <a:rPr lang="en-US" sz="2000" b="1" dirty="0"/>
              <a:t>Problem: </a:t>
            </a:r>
            <a:r>
              <a:rPr lang="en-US" sz="2000" dirty="0"/>
              <a:t>Quality lapses, safety incidents, throughput bottlenecks, or financial strain. </a:t>
            </a:r>
          </a:p>
          <a:p>
            <a:endParaRPr lang="en-US" sz="2000" dirty="0"/>
          </a:p>
          <a:p>
            <a:r>
              <a:rPr lang="en-US" sz="2000" b="1" dirty="0"/>
              <a:t>Business Case: </a:t>
            </a:r>
            <a:r>
              <a:rPr lang="en-US" sz="2000" dirty="0"/>
              <a:t>U.S hospitals and healthcare systems face significant capacity risk due to workforce shortages, demand shortages, burnout, and misaligned skill mix across nurses, physicians, and support staff</a:t>
            </a:r>
          </a:p>
          <a:p>
            <a:endParaRPr lang="en-US" sz="2000" dirty="0"/>
          </a:p>
          <a:p>
            <a:r>
              <a:rPr lang="en-US" sz="2000" b="1" dirty="0"/>
              <a:t>Method Summary: </a:t>
            </a:r>
            <a:r>
              <a:rPr lang="en-US" sz="2000" dirty="0"/>
              <a:t>Predictive early warning model with an operational decision layer to estimate the likelihood of multi-class and binary classifications. Configured to balance ‘Sensitivity’ and ‘Specificity’</a:t>
            </a:r>
          </a:p>
          <a:p>
            <a:pPr marL="457200" lvl="2" indent="-457200">
              <a:buFont typeface="+mj-lt"/>
              <a:buAutoNum type="arabicPeriod"/>
            </a:pPr>
            <a:r>
              <a:rPr lang="en-US" sz="1800" i="1" dirty="0"/>
              <a:t>High, Normal, Low (Distribution defined: Q1 = Low, IQR = Normal, Q2 = High)</a:t>
            </a:r>
          </a:p>
          <a:p>
            <a:pPr marL="457200" lvl="2" indent="-457200">
              <a:buFont typeface="+mj-lt"/>
              <a:buAutoNum type="arabicPeriod"/>
            </a:pPr>
            <a:r>
              <a:rPr lang="en-US" sz="1800" i="1" dirty="0"/>
              <a:t>High, Not High (Threshold defined: &gt;85% staffed-capacity utilization)</a:t>
            </a:r>
          </a:p>
          <a:p>
            <a:pPr lvl="2"/>
            <a:endParaRPr lang="en-US" sz="1800" i="1" dirty="0"/>
          </a:p>
          <a:p>
            <a:pPr lvl="2"/>
            <a:r>
              <a:rPr lang="en-US" sz="2000" b="1" dirty="0"/>
              <a:t>Governance: </a:t>
            </a:r>
            <a:r>
              <a:rPr lang="en-US" sz="2000" dirty="0"/>
              <a:t>Use is governed through periodic performance review, threshold assessment, and monitoring for unintended workload impact. Documentation of use supports transparency and continuous improvement</a:t>
            </a:r>
          </a:p>
          <a:p>
            <a:pPr lvl="2"/>
            <a:endParaRPr lang="en-US" sz="2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BF3BE1-7AEC-047D-C23F-9A77D26B2EB4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ACD82-27AC-E04B-2D77-D3BBA6311E6D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a9adfce22_0_0"/>
          <p:cNvSpPr txBox="1"/>
          <p:nvPr/>
        </p:nvSpPr>
        <p:spPr>
          <a:xfrm>
            <a:off x="118533" y="462678"/>
            <a:ext cx="8427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 dirty="0">
                <a:solidFill>
                  <a:srgbClr val="152C4C"/>
                </a:solidFill>
                <a:latin typeface="Arial"/>
                <a:ea typeface="Arial"/>
                <a:cs typeface="Arial"/>
                <a:sym typeface="Arial"/>
              </a:rPr>
              <a:t>Predicting Capacity Risk t + Horizon </a:t>
            </a:r>
            <a:endParaRPr sz="1400" i="0" u="none" strike="noStrike" cap="none" dirty="0">
              <a:solidFill>
                <a:srgbClr val="152C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da9adfce22_0_0"/>
          <p:cNvSpPr txBox="1"/>
          <p:nvPr/>
        </p:nvSpPr>
        <p:spPr>
          <a:xfrm>
            <a:off x="894897" y="1144858"/>
            <a:ext cx="11531600" cy="990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rPr lang="en-US" sz="2800" dirty="0">
                <a:solidFill>
                  <a:schemeClr val="tx1"/>
                </a:solidFill>
              </a:rPr>
              <a:t>Do we need to escalate staffing or capacity management actions?</a:t>
            </a:r>
            <a:endParaRPr sz="280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da9adfce22_0_0"/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A99B1E-66F3-501C-5367-6993092B85AA}"/>
              </a:ext>
            </a:extLst>
          </p:cNvPr>
          <p:cNvGrpSpPr/>
          <p:nvPr/>
        </p:nvGrpSpPr>
        <p:grpSpPr>
          <a:xfrm>
            <a:off x="118533" y="2163270"/>
            <a:ext cx="11531600" cy="4283140"/>
            <a:chOff x="827161" y="2163270"/>
            <a:chExt cx="9590835" cy="3369200"/>
          </a:xfrm>
        </p:grpSpPr>
        <p:grpSp>
          <p:nvGrpSpPr>
            <p:cNvPr id="95" name="Google Shape;95;g3da9adfce22_0_0"/>
            <p:cNvGrpSpPr/>
            <p:nvPr/>
          </p:nvGrpSpPr>
          <p:grpSpPr>
            <a:xfrm>
              <a:off x="1989503" y="2163270"/>
              <a:ext cx="7719576" cy="2922438"/>
              <a:chOff x="7821165" y="983861"/>
              <a:chExt cx="4318762" cy="1623446"/>
            </a:xfrm>
          </p:grpSpPr>
          <p:sp>
            <p:nvSpPr>
              <p:cNvPr id="96" name="Google Shape;96;g3da9adfce22_0_0"/>
              <p:cNvSpPr/>
              <p:nvPr/>
            </p:nvSpPr>
            <p:spPr>
              <a:xfrm>
                <a:off x="9953285" y="983861"/>
                <a:ext cx="2186642" cy="1620988"/>
              </a:xfrm>
              <a:prstGeom prst="rect">
                <a:avLst/>
              </a:prstGeom>
              <a:solidFill>
                <a:srgbClr val="D9E5F8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g3da9adfce22_0_0"/>
              <p:cNvSpPr/>
              <p:nvPr/>
            </p:nvSpPr>
            <p:spPr>
              <a:xfrm>
                <a:off x="10055972" y="1783313"/>
                <a:ext cx="309941" cy="665011"/>
              </a:xfrm>
              <a:prstGeom prst="rect">
                <a:avLst/>
              </a:prstGeom>
              <a:solidFill>
                <a:srgbClr val="A3C5ED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g3da9adfce22_0_0"/>
              <p:cNvSpPr/>
              <p:nvPr/>
            </p:nvSpPr>
            <p:spPr>
              <a:xfrm>
                <a:off x="10588517" y="2166709"/>
                <a:ext cx="309941" cy="281615"/>
              </a:xfrm>
              <a:prstGeom prst="rect">
                <a:avLst/>
              </a:prstGeom>
              <a:solidFill>
                <a:srgbClr val="A3C5ED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g3da9adfce22_0_0"/>
              <p:cNvSpPr/>
              <p:nvPr/>
            </p:nvSpPr>
            <p:spPr>
              <a:xfrm>
                <a:off x="11121062" y="1522900"/>
                <a:ext cx="309941" cy="925424"/>
              </a:xfrm>
              <a:prstGeom prst="rect">
                <a:avLst/>
              </a:prstGeom>
              <a:solidFill>
                <a:srgbClr val="A3C5ED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g3da9adfce22_0_0"/>
              <p:cNvSpPr/>
              <p:nvPr/>
            </p:nvSpPr>
            <p:spPr>
              <a:xfrm>
                <a:off x="11653607" y="1979492"/>
                <a:ext cx="309941" cy="468832"/>
              </a:xfrm>
              <a:prstGeom prst="rect">
                <a:avLst/>
              </a:prstGeom>
              <a:solidFill>
                <a:srgbClr val="A3C5ED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g3da9adfce22_0_0"/>
              <p:cNvSpPr txBox="1"/>
              <p:nvPr/>
            </p:nvSpPr>
            <p:spPr>
              <a:xfrm>
                <a:off x="9865899" y="1282886"/>
                <a:ext cx="69008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T+1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g3da9adfce22_0_0"/>
              <p:cNvSpPr txBox="1"/>
              <p:nvPr/>
            </p:nvSpPr>
            <p:spPr>
              <a:xfrm>
                <a:off x="10398444" y="1262652"/>
                <a:ext cx="69008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T+3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g3da9adfce22_0_0"/>
              <p:cNvSpPr txBox="1"/>
              <p:nvPr/>
            </p:nvSpPr>
            <p:spPr>
              <a:xfrm>
                <a:off x="10927566" y="1272769"/>
                <a:ext cx="69008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T+7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g3da9adfce22_0_0"/>
              <p:cNvSpPr txBox="1"/>
              <p:nvPr/>
            </p:nvSpPr>
            <p:spPr>
              <a:xfrm>
                <a:off x="11449842" y="1262651"/>
                <a:ext cx="69008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T+30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g3da9adfce22_0_0"/>
              <p:cNvSpPr/>
              <p:nvPr/>
            </p:nvSpPr>
            <p:spPr>
              <a:xfrm>
                <a:off x="7890022" y="986319"/>
                <a:ext cx="1548421" cy="1620988"/>
              </a:xfrm>
              <a:prstGeom prst="rect">
                <a:avLst/>
              </a:prstGeom>
              <a:solidFill>
                <a:srgbClr val="F2F2F2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g3da9adfce22_0_0"/>
              <p:cNvSpPr/>
              <p:nvPr/>
            </p:nvSpPr>
            <p:spPr>
              <a:xfrm>
                <a:off x="9495564" y="983861"/>
                <a:ext cx="412764" cy="1620988"/>
              </a:xfrm>
              <a:prstGeom prst="rect">
                <a:avLst/>
              </a:prstGeom>
              <a:solidFill>
                <a:srgbClr val="F2CDED"/>
              </a:solidFill>
              <a:ln w="19050" cap="flat" cmpd="sng">
                <a:solidFill>
                  <a:srgbClr val="082836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" name="Google Shape;107;g3da9adfce22_0_0"/>
              <p:cNvGrpSpPr/>
              <p:nvPr/>
            </p:nvGrpSpPr>
            <p:grpSpPr>
              <a:xfrm>
                <a:off x="7821165" y="1282885"/>
                <a:ext cx="2220390" cy="1165439"/>
                <a:chOff x="7821165" y="1282885"/>
                <a:chExt cx="2220390" cy="1165439"/>
              </a:xfrm>
            </p:grpSpPr>
            <p:sp>
              <p:nvSpPr>
                <p:cNvPr id="108" name="Google Shape;108;g3da9adfce22_0_0"/>
                <p:cNvSpPr/>
                <p:nvPr/>
              </p:nvSpPr>
              <p:spPr>
                <a:xfrm>
                  <a:off x="9553666" y="1522900"/>
                  <a:ext cx="309941" cy="925424"/>
                </a:xfrm>
                <a:prstGeom prst="rect">
                  <a:avLst/>
                </a:prstGeom>
                <a:solidFill>
                  <a:srgbClr val="D86CCC"/>
                </a:solidFill>
                <a:ln w="19050" cap="flat" cmpd="sng">
                  <a:solidFill>
                    <a:srgbClr val="0828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" name="Google Shape;109;g3da9adfce22_0_0"/>
                <p:cNvSpPr txBox="1"/>
                <p:nvPr/>
              </p:nvSpPr>
              <p:spPr>
                <a:xfrm>
                  <a:off x="9351470" y="1282885"/>
                  <a:ext cx="69008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" name="Google Shape;110;g3da9adfce22_0_0"/>
                <p:cNvSpPr/>
                <p:nvPr/>
              </p:nvSpPr>
              <p:spPr>
                <a:xfrm>
                  <a:off x="9006199" y="1783314"/>
                  <a:ext cx="309941" cy="665010"/>
                </a:xfrm>
                <a:prstGeom prst="rect">
                  <a:avLst/>
                </a:prstGeom>
                <a:solidFill>
                  <a:srgbClr val="BFBFBF"/>
                </a:solidFill>
                <a:ln w="19050" cap="flat" cmpd="sng">
                  <a:solidFill>
                    <a:srgbClr val="0828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" name="Google Shape;111;g3da9adfce22_0_0"/>
                <p:cNvSpPr txBox="1"/>
                <p:nvPr/>
              </p:nvSpPr>
              <p:spPr>
                <a:xfrm>
                  <a:off x="8837041" y="1282885"/>
                  <a:ext cx="69008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T-1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2" name="Google Shape;112;g3da9adfce22_0_0"/>
                <p:cNvSpPr/>
                <p:nvPr/>
              </p:nvSpPr>
              <p:spPr>
                <a:xfrm>
                  <a:off x="8504752" y="1522900"/>
                  <a:ext cx="309941" cy="925424"/>
                </a:xfrm>
                <a:prstGeom prst="rect">
                  <a:avLst/>
                </a:prstGeom>
                <a:solidFill>
                  <a:srgbClr val="BFBFBF"/>
                </a:solidFill>
                <a:ln w="19050" cap="flat" cmpd="sng">
                  <a:solidFill>
                    <a:srgbClr val="0828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" name="Google Shape;113;g3da9adfce22_0_0"/>
                <p:cNvSpPr txBox="1"/>
                <p:nvPr/>
              </p:nvSpPr>
              <p:spPr>
                <a:xfrm>
                  <a:off x="8335594" y="1282885"/>
                  <a:ext cx="69008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T-2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14;g3da9adfce22_0_0"/>
                <p:cNvSpPr/>
                <p:nvPr/>
              </p:nvSpPr>
              <p:spPr>
                <a:xfrm>
                  <a:off x="7990323" y="1979492"/>
                  <a:ext cx="309941" cy="468832"/>
                </a:xfrm>
                <a:prstGeom prst="rect">
                  <a:avLst/>
                </a:prstGeom>
                <a:solidFill>
                  <a:srgbClr val="BFBFBF"/>
                </a:solidFill>
                <a:ln w="19050" cap="flat" cmpd="sng">
                  <a:solidFill>
                    <a:srgbClr val="082836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" name="Google Shape;115;g3da9adfce22_0_0"/>
                <p:cNvSpPr txBox="1"/>
                <p:nvPr/>
              </p:nvSpPr>
              <p:spPr>
                <a:xfrm>
                  <a:off x="7821165" y="1282885"/>
                  <a:ext cx="69008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T-3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6" name="Google Shape;116;g3da9adfce22_0_0"/>
              <p:cNvSpPr txBox="1"/>
              <p:nvPr/>
            </p:nvSpPr>
            <p:spPr>
              <a:xfrm>
                <a:off x="7990323" y="1005885"/>
                <a:ext cx="136114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1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PAST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g3da9adfce22_0_0"/>
              <p:cNvSpPr txBox="1"/>
              <p:nvPr/>
            </p:nvSpPr>
            <p:spPr>
              <a:xfrm>
                <a:off x="10398444" y="1008510"/>
                <a:ext cx="136114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1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FUTURE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9" name="Google Shape;119;g3da9adfce22_0_0"/>
            <p:cNvCxnSpPr>
              <a:cxnSpLocks/>
            </p:cNvCxnSpPr>
            <p:nvPr/>
          </p:nvCxnSpPr>
          <p:spPr>
            <a:xfrm>
              <a:off x="965771" y="4292568"/>
              <a:ext cx="8743307" cy="0"/>
            </a:xfrm>
            <a:prstGeom prst="straightConnector1">
              <a:avLst/>
            </a:prstGeom>
            <a:noFill/>
            <a:ln w="19050" cap="flat" cmpd="sng">
              <a:solidFill>
                <a:srgbClr val="000000">
                  <a:alpha val="60000"/>
                </a:srgbClr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20" name="Google Shape;120;g3da9adfce22_0_0"/>
            <p:cNvSpPr txBox="1"/>
            <p:nvPr/>
          </p:nvSpPr>
          <p:spPr>
            <a:xfrm>
              <a:off x="827161" y="3955550"/>
              <a:ext cx="12334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" name="Google Shape;121;g3da9adfce22_0_0"/>
            <p:cNvCxnSpPr>
              <a:cxnSpLocks/>
            </p:cNvCxnSpPr>
            <p:nvPr/>
          </p:nvCxnSpPr>
          <p:spPr>
            <a:xfrm>
              <a:off x="950352" y="3785621"/>
              <a:ext cx="8758727" cy="0"/>
            </a:xfrm>
            <a:prstGeom prst="straightConnector1">
              <a:avLst/>
            </a:prstGeom>
            <a:noFill/>
            <a:ln w="19050" cap="flat" cmpd="sng">
              <a:solidFill>
                <a:srgbClr val="000000">
                  <a:alpha val="60000"/>
                </a:srgbClr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22" name="Google Shape;122;g3da9adfce22_0_0"/>
            <p:cNvSpPr txBox="1"/>
            <p:nvPr/>
          </p:nvSpPr>
          <p:spPr>
            <a:xfrm>
              <a:off x="845415" y="3408921"/>
              <a:ext cx="12334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normal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" name="Google Shape;123;g3da9adfce22_0_0"/>
            <p:cNvCxnSpPr>
              <a:cxnSpLocks/>
            </p:cNvCxnSpPr>
            <p:nvPr/>
          </p:nvCxnSpPr>
          <p:spPr>
            <a:xfrm>
              <a:off x="961054" y="3298372"/>
              <a:ext cx="9456942" cy="0"/>
            </a:xfrm>
            <a:prstGeom prst="straightConnector1">
              <a:avLst/>
            </a:prstGeom>
            <a:noFill/>
            <a:ln w="19050" cap="flat" cmpd="sng">
              <a:solidFill>
                <a:srgbClr val="000000">
                  <a:alpha val="60000"/>
                </a:srgbClr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124" name="Google Shape;124;g3da9adfce22_0_0"/>
            <p:cNvSpPr txBox="1"/>
            <p:nvPr/>
          </p:nvSpPr>
          <p:spPr>
            <a:xfrm>
              <a:off x="856117" y="2921672"/>
              <a:ext cx="12334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g3da9adfce22_0_0"/>
            <p:cNvCxnSpPr/>
            <p:nvPr/>
          </p:nvCxnSpPr>
          <p:spPr>
            <a:xfrm rot="10800000" flipH="1">
              <a:off x="2112582" y="4799515"/>
              <a:ext cx="7596497" cy="16806"/>
            </a:xfrm>
            <a:prstGeom prst="straightConnector1">
              <a:avLst/>
            </a:prstGeom>
            <a:noFill/>
            <a:ln w="19050" cap="flat" cmpd="sng">
              <a:solidFill>
                <a:srgbClr val="000000">
                  <a:alpha val="6000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635CFD4-C6A4-E531-674C-43C05E9C3A55}"/>
                </a:ext>
              </a:extLst>
            </p:cNvPr>
            <p:cNvSpPr txBox="1"/>
            <p:nvPr/>
          </p:nvSpPr>
          <p:spPr>
            <a:xfrm>
              <a:off x="1989503" y="5224693"/>
              <a:ext cx="5127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Where t = today</a:t>
              </a:r>
            </a:p>
          </p:txBody>
        </p:sp>
      </p:grpSp>
      <p:sp>
        <p:nvSpPr>
          <p:cNvPr id="700001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sp>
        <p:nvSpPr>
          <p:cNvPr id="4" name="Google Shape;124;g3da9adfce22_0_0">
            <a:extLst>
              <a:ext uri="{FF2B5EF4-FFF2-40B4-BE49-F238E27FC236}">
                <a16:creationId xmlns:a16="http://schemas.microsoft.com/office/drawing/2014/main" id="{773B48A1-45F7-7EB4-62DC-1B19D5600793}"/>
              </a:ext>
            </a:extLst>
          </p:cNvPr>
          <p:cNvSpPr txBox="1"/>
          <p:nvPr/>
        </p:nvSpPr>
        <p:spPr>
          <a:xfrm>
            <a:off x="10512238" y="3041761"/>
            <a:ext cx="1483098" cy="391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24;g3da9adfce22_0_0">
            <a:extLst>
              <a:ext uri="{FF2B5EF4-FFF2-40B4-BE49-F238E27FC236}">
                <a16:creationId xmlns:a16="http://schemas.microsoft.com/office/drawing/2014/main" id="{F5C73051-5985-8DD5-F47D-C743985DFF18}"/>
              </a:ext>
            </a:extLst>
          </p:cNvPr>
          <p:cNvSpPr txBox="1"/>
          <p:nvPr/>
        </p:nvSpPr>
        <p:spPr>
          <a:xfrm>
            <a:off x="10559954" y="4076359"/>
            <a:ext cx="148309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dk1"/>
                </a:solidFill>
              </a:rPr>
              <a:t>n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 high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4E2ADF-8665-D83C-524B-7042CA60D2D8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1369B54-FD6D-CB42-9217-698DCB2D6B32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97DBEB26-F753-F750-1906-1183F046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94;g3da9adfce22_0_0">
            <a:extLst>
              <a:ext uri="{FF2B5EF4-FFF2-40B4-BE49-F238E27FC236}">
                <a16:creationId xmlns:a16="http://schemas.microsoft.com/office/drawing/2014/main" id="{166D09BD-1DF0-3445-E6CB-EFAB05AE6A85}"/>
              </a:ext>
            </a:extLst>
          </p:cNvPr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BFA3397-D398-98B5-6B71-0E6BEE200C89}"/>
              </a:ext>
            </a:extLst>
          </p:cNvPr>
          <p:cNvSpPr/>
          <p:nvPr/>
        </p:nvSpPr>
        <p:spPr>
          <a:xfrm>
            <a:off x="172751" y="1154722"/>
            <a:ext cx="11871663" cy="1200329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Google Shape;85;g3e090e42e21_0_25">
            <a:extLst>
              <a:ext uri="{FF2B5EF4-FFF2-40B4-BE49-F238E27FC236}">
                <a16:creationId xmlns:a16="http://schemas.microsoft.com/office/drawing/2014/main" id="{79C000DD-0E8D-BF11-FA63-E487DD5E7586}"/>
              </a:ext>
            </a:extLst>
          </p:cNvPr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0" name="Pulse Line Accent">
            <a:extLst>
              <a:ext uri="{FF2B5EF4-FFF2-40B4-BE49-F238E27FC236}">
                <a16:creationId xmlns:a16="http://schemas.microsoft.com/office/drawing/2014/main" id="{AA114ED7-8935-108C-CC67-54DDD03B6487}"/>
              </a:ext>
            </a:extLst>
          </p:cNvPr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627E01-9245-32CF-4BDF-86DA1563A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493" y="3946786"/>
            <a:ext cx="7192595" cy="275819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456BE0E5-EE8D-49EE-E536-8F49B4C80799}"/>
              </a:ext>
            </a:extLst>
          </p:cNvPr>
          <p:cNvGrpSpPr/>
          <p:nvPr/>
        </p:nvGrpSpPr>
        <p:grpSpPr>
          <a:xfrm>
            <a:off x="767725" y="1177954"/>
            <a:ext cx="3151319" cy="1153864"/>
            <a:chOff x="579814" y="1409948"/>
            <a:chExt cx="3615197" cy="11538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C893CFD-2C05-0981-0F8C-30B2045B30F1}"/>
                </a:ext>
              </a:extLst>
            </p:cNvPr>
            <p:cNvSpPr/>
            <p:nvPr/>
          </p:nvSpPr>
          <p:spPr>
            <a:xfrm>
              <a:off x="579814" y="1409948"/>
              <a:ext cx="3542395" cy="1153864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52C4C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351E7C-D542-320F-5A0A-54D55A2442F4}"/>
                </a:ext>
              </a:extLst>
            </p:cNvPr>
            <p:cNvSpPr txBox="1"/>
            <p:nvPr/>
          </p:nvSpPr>
          <p:spPr>
            <a:xfrm>
              <a:off x="617621" y="1409948"/>
              <a:ext cx="357739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+10k patient records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Admission / discharge dates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Diagnoses &amp; treatments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Billing &amp; Payer info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72433B98-38EE-7F96-69E3-24591F0F62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362679" y="492902"/>
            <a:ext cx="3118363" cy="2710762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EF32156-1E86-5811-CBE8-46A25C736029}"/>
              </a:ext>
            </a:extLst>
          </p:cNvPr>
          <p:cNvSpPr txBox="1"/>
          <p:nvPr/>
        </p:nvSpPr>
        <p:spPr>
          <a:xfrm>
            <a:off x="1726862" y="492901"/>
            <a:ext cx="1008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Input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28C759-0335-498A-1F06-C7785341708C}"/>
              </a:ext>
            </a:extLst>
          </p:cNvPr>
          <p:cNvSpPr txBox="1"/>
          <p:nvPr/>
        </p:nvSpPr>
        <p:spPr>
          <a:xfrm>
            <a:off x="8605729" y="445286"/>
            <a:ext cx="1588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Output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48C22C-DE4C-705D-9353-3ABBF7B1AC0D}"/>
              </a:ext>
            </a:extLst>
          </p:cNvPr>
          <p:cNvSpPr txBox="1"/>
          <p:nvPr/>
        </p:nvSpPr>
        <p:spPr>
          <a:xfrm>
            <a:off x="4657369" y="3490496"/>
            <a:ext cx="3541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Descriptive Statistics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7A45D4-FC1F-3677-FB8B-799112A0409B}"/>
              </a:ext>
            </a:extLst>
          </p:cNvPr>
          <p:cNvGrpSpPr/>
          <p:nvPr/>
        </p:nvGrpSpPr>
        <p:grpSpPr>
          <a:xfrm>
            <a:off x="7924678" y="1154722"/>
            <a:ext cx="3342747" cy="1200329"/>
            <a:chOff x="8428620" y="1365222"/>
            <a:chExt cx="2963297" cy="120032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4C2FA3D-9654-40A2-486C-C92A34795DFA}"/>
                </a:ext>
              </a:extLst>
            </p:cNvPr>
            <p:cNvSpPr/>
            <p:nvPr/>
          </p:nvSpPr>
          <p:spPr>
            <a:xfrm>
              <a:off x="8428620" y="1365222"/>
              <a:ext cx="2341848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52C4C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3E4E85-D1D0-9084-6ADC-7E98F9B3100C}"/>
                </a:ext>
              </a:extLst>
            </p:cNvPr>
            <p:cNvSpPr txBox="1"/>
            <p:nvPr/>
          </p:nvSpPr>
          <p:spPr>
            <a:xfrm>
              <a:off x="8462371" y="1432154"/>
              <a:ext cx="2929546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Aggregate daily table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Create ‘flow variables’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Derive capacity signal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sz="1600" dirty="0"/>
                <a:t>Add time intelligence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FC25645-256E-0CC2-8EBE-69A394EEDAE6}"/>
              </a:ext>
            </a:extLst>
          </p:cNvPr>
          <p:cNvSpPr txBox="1"/>
          <p:nvPr/>
        </p:nvSpPr>
        <p:spPr>
          <a:xfrm>
            <a:off x="4657369" y="19277"/>
            <a:ext cx="26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Synthetic Healthcare Data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38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265" y="1971604"/>
            <a:ext cx="4923446" cy="451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0108" y="2333626"/>
            <a:ext cx="4923446" cy="393875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/>
        </p:nvSpPr>
        <p:spPr>
          <a:xfrm>
            <a:off x="2135084" y="1175861"/>
            <a:ext cx="83943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🟢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reliably detect high‑utilization days with strong recall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❌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mistakes are near state boundaries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63875" y="418422"/>
            <a:ext cx="1085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Predicting Room Occupancy by t + 1 – Logistic Regression</a:t>
            </a:r>
            <a:endParaRPr sz="14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0002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27AB73-6325-EA19-4B69-959813EB01B9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17B2DEB-8169-069F-C811-1C3FCD72C7B7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Baseline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1532437" y="1192126"/>
            <a:ext cx="1033598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🟢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valuable early warning</a:t>
            </a:r>
            <a:endParaRPr sz="14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❌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 uncertainty is high, not suitable for decision making</a:t>
            </a:r>
            <a:endParaRPr sz="240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2947" y="2206271"/>
            <a:ext cx="5273768" cy="4045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17" y="2130074"/>
            <a:ext cx="4464279" cy="419756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0"/>
          <p:cNvSpPr txBox="1"/>
          <p:nvPr/>
        </p:nvSpPr>
        <p:spPr>
          <a:xfrm>
            <a:off x="71400" y="456729"/>
            <a:ext cx="10852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dirty="0">
                <a:solidFill>
                  <a:schemeClr val="bg2"/>
                </a:solidFill>
              </a:rPr>
              <a:t>Predicting Room Occupancy</a:t>
            </a: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 by t + 7 – Logistic Regression</a:t>
            </a:r>
            <a:endParaRPr sz="14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0003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0E0C88D-E933-282E-D220-474F77EE7D0C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3FAF1E-FD6F-4A2B-8B7F-898B0843AFD2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Baseline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1464698" y="1332507"/>
            <a:ext cx="10335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400"/>
            </a:pPr>
            <a:r>
              <a:rPr lang="en-US" sz="2400" dirty="0">
                <a:solidFill>
                  <a:schemeClr val="dk1"/>
                </a:solidFill>
              </a:rPr>
              <a:t>❌ </a:t>
            </a:r>
            <a:r>
              <a:rPr lang="en-US" sz="240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 uncertainty is high, not suitable for decision making</a:t>
            </a:r>
            <a:endParaRPr sz="240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4474" y="2130074"/>
            <a:ext cx="5886209" cy="4481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17" y="2197796"/>
            <a:ext cx="4654212" cy="441382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4"/>
          <p:cNvSpPr txBox="1"/>
          <p:nvPr/>
        </p:nvSpPr>
        <p:spPr>
          <a:xfrm>
            <a:off x="44951" y="411605"/>
            <a:ext cx="1144646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Predicting Room Occupancy by t + 30 – Logistic Regression</a:t>
            </a:r>
            <a:endParaRPr sz="14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0004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51A702-0126-C1BD-9FA4-69A98EDA15D1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D4A513-5875-5D8C-F5B2-AD6DA56D0238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Baseline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800"/>
            </a:pPr>
            <a:r>
              <a:rPr lang="en-US" sz="1800">
                <a:solidFill>
                  <a:schemeClr val="bg2"/>
                </a:solidFill>
              </a:rPr>
              <a:t>(C=1,y=scale)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63875" y="425245"/>
            <a:ext cx="123627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Predicting Room Occupancy by t + Horizon – RBF SVM</a:t>
            </a:r>
            <a:endParaRPr sz="14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2923101" y="1309775"/>
            <a:ext cx="6996701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🟢 t + 1 forecast are reliable for operational use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⚠️ t + 7 forecast provides early warning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❌ t + 30 forecast exceeds available signal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8840" y="2598289"/>
            <a:ext cx="6597989" cy="40832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3226085" y="6461997"/>
            <a:ext cx="125344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i="0" u="none" strike="noStrike" cap="none" dirty="0">
                <a:solidFill>
                  <a:srgbClr val="152C4C"/>
                </a:solidFill>
                <a:latin typeface="Arial"/>
                <a:ea typeface="Arial"/>
                <a:cs typeface="Arial"/>
                <a:sym typeface="Arial"/>
              </a:rPr>
              <a:t>t = Today </a:t>
            </a:r>
            <a:endParaRPr i="0" u="none" strike="noStrike" cap="none" dirty="0">
              <a:solidFill>
                <a:srgbClr val="152C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0005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CBE3CD-476F-822E-6B34-83B3A88B2726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DCDBE7-47E2-3634-97F0-2BED8DABC95A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Improved Baseline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25E5C-DABA-BDAF-3FDC-E330CDC7B0DC}"/>
              </a:ext>
            </a:extLst>
          </p:cNvPr>
          <p:cNvSpPr txBox="1"/>
          <p:nvPr/>
        </p:nvSpPr>
        <p:spPr>
          <a:xfrm>
            <a:off x="7705618" y="6455816"/>
            <a:ext cx="1370143" cy="31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(C=1,y=scale)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52E02B59-7AF4-18F3-0741-90ADC262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2;p15">
            <a:extLst>
              <a:ext uri="{FF2B5EF4-FFF2-40B4-BE49-F238E27FC236}">
                <a16:creationId xmlns:a16="http://schemas.microsoft.com/office/drawing/2014/main" id="{1C9D9530-3F25-9A55-4434-7D805E1460D4}"/>
              </a:ext>
            </a:extLst>
          </p:cNvPr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e090e42e21_0_25">
            <a:extLst>
              <a:ext uri="{FF2B5EF4-FFF2-40B4-BE49-F238E27FC236}">
                <a16:creationId xmlns:a16="http://schemas.microsoft.com/office/drawing/2014/main" id="{01C9346A-994D-B793-466F-F230F830987C}"/>
              </a:ext>
            </a:extLst>
          </p:cNvPr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" name="Google Shape;87;g3e090e42e21_0_25">
            <a:extLst>
              <a:ext uri="{FF2B5EF4-FFF2-40B4-BE49-F238E27FC236}">
                <a16:creationId xmlns:a16="http://schemas.microsoft.com/office/drawing/2014/main" id="{8A1B70E6-230F-47F1-7A1C-8F23C69569ED}"/>
              </a:ext>
            </a:extLst>
          </p:cNvPr>
          <p:cNvSpPr txBox="1"/>
          <p:nvPr/>
        </p:nvSpPr>
        <p:spPr>
          <a:xfrm>
            <a:off x="1468352" y="4200682"/>
            <a:ext cx="9429099" cy="2490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R="0" lvl="0" algn="l" rtl="0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50"/>
            </a:pPr>
            <a:r>
              <a:rPr lang="en-US" sz="2400" dirty="0">
                <a:solidFill>
                  <a:srgbClr val="152C4C"/>
                </a:solidFill>
              </a:rPr>
              <a:t>Additional Steps Taken</a:t>
            </a:r>
          </a:p>
          <a:p>
            <a:pPr marL="457200" marR="0" lvl="0" indent="-457200" algn="l" rtl="0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Modify Capacity Definition: ‘Room Occupancy’ ➜  ‘Staffed Capacity Risk’</a:t>
            </a:r>
          </a:p>
          <a:p>
            <a:pPr marL="457200" marR="0" lvl="0" indent="-457200" algn="l" rtl="0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Adjust Prediction Scope: </a:t>
            </a:r>
            <a:r>
              <a:rPr lang="en-US" sz="2000" strike="sngStrike" dirty="0">
                <a:solidFill>
                  <a:schemeClr val="tx1"/>
                </a:solidFill>
              </a:rPr>
              <a:t>t + 30</a:t>
            </a:r>
          </a:p>
          <a:p>
            <a:pPr marL="457200" marR="0" lvl="0" indent="-457200" algn="l" rtl="0"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Feature Engineering: Time Series Lag Features</a:t>
            </a:r>
          </a:p>
          <a:p>
            <a:pPr marL="457200" lvl="0" indent="-457200">
              <a:spcBef>
                <a:spcPts val="1100"/>
              </a:spcBef>
              <a:buSzPts val="135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Machine Learning Methods: </a:t>
            </a:r>
            <a:r>
              <a:rPr lang="en-US" sz="2000" i="1" dirty="0">
                <a:solidFill>
                  <a:schemeClr val="tx1"/>
                </a:solidFill>
              </a:rPr>
              <a:t>‘SVM’ </a:t>
            </a:r>
            <a:r>
              <a:rPr lang="en-US" sz="2000" dirty="0">
                <a:solidFill>
                  <a:schemeClr val="tx1"/>
                </a:solidFill>
              </a:rPr>
              <a:t>➜ </a:t>
            </a:r>
            <a:r>
              <a:rPr lang="en-US" sz="2000" i="1" dirty="0">
                <a:solidFill>
                  <a:schemeClr val="tx1"/>
                </a:solidFill>
              </a:rPr>
              <a:t>‘GBM’ </a:t>
            </a:r>
            <a:r>
              <a:rPr lang="en-US" sz="2000" dirty="0">
                <a:solidFill>
                  <a:schemeClr val="tx1"/>
                </a:solidFill>
              </a:rPr>
              <a:t>➜ </a:t>
            </a:r>
            <a:r>
              <a:rPr lang="en-US" sz="2000" i="1" dirty="0">
                <a:solidFill>
                  <a:schemeClr val="tx1"/>
                </a:solidFill>
              </a:rPr>
              <a:t>‘Ensemble’ (SVM + GMB)</a:t>
            </a:r>
          </a:p>
        </p:txBody>
      </p:sp>
      <p:sp>
        <p:nvSpPr>
          <p:cNvPr id="700008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sp>
        <p:nvSpPr>
          <p:cNvPr id="5" name="Google Shape;156;p14">
            <a:extLst>
              <a:ext uri="{FF2B5EF4-FFF2-40B4-BE49-F238E27FC236}">
                <a16:creationId xmlns:a16="http://schemas.microsoft.com/office/drawing/2014/main" id="{1965A102-F8A2-3475-FF4C-F64C9DCBD398}"/>
              </a:ext>
            </a:extLst>
          </p:cNvPr>
          <p:cNvSpPr txBox="1"/>
          <p:nvPr/>
        </p:nvSpPr>
        <p:spPr>
          <a:xfrm>
            <a:off x="44950" y="411605"/>
            <a:ext cx="1182347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200"/>
            </a:pPr>
            <a:r>
              <a:rPr lang="en-US" sz="3200" dirty="0">
                <a:solidFill>
                  <a:schemeClr val="bg2"/>
                </a:solidFill>
              </a:rPr>
              <a:t>Refined Model</a:t>
            </a: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>
                <a:solidFill>
                  <a:schemeClr val="bg2"/>
                </a:solidFill>
              </a:rPr>
              <a:t>– Binary Classification for Staffed Capacity Risk</a:t>
            </a:r>
            <a:endParaRPr sz="32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AFA52E-2E8F-89F5-046E-5B660C564C2F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C01453A-BA1B-D3D7-0C1C-181B8450E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49864"/>
          <a:stretch>
            <a:fillRect/>
          </a:stretch>
        </p:blipFill>
        <p:spPr>
          <a:xfrm>
            <a:off x="7043609" y="1186331"/>
            <a:ext cx="4023362" cy="3094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B46D42-F904-9C67-D718-87A87B8E6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49864"/>
          <a:stretch>
            <a:fillRect/>
          </a:stretch>
        </p:blipFill>
        <p:spPr>
          <a:xfrm>
            <a:off x="686937" y="1186330"/>
            <a:ext cx="4023361" cy="3014352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A8A70BC5-561F-C446-BC0D-537CC153E112}"/>
              </a:ext>
            </a:extLst>
          </p:cNvPr>
          <p:cNvSpPr/>
          <p:nvPr/>
        </p:nvSpPr>
        <p:spPr>
          <a:xfrm>
            <a:off x="5145341" y="2693506"/>
            <a:ext cx="1815142" cy="55102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CABD44-1D29-A645-FF70-8FDB7BE54401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Refinement</a:t>
            </a:r>
          </a:p>
        </p:txBody>
      </p:sp>
    </p:spTree>
    <p:extLst>
      <p:ext uri="{BB962C8B-B14F-4D97-AF65-F5344CB8AC3E}">
        <p14:creationId xmlns:p14="http://schemas.microsoft.com/office/powerpoint/2010/main" val="261933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2;p15">
            <a:extLst>
              <a:ext uri="{FF2B5EF4-FFF2-40B4-BE49-F238E27FC236}">
                <a16:creationId xmlns:a16="http://schemas.microsoft.com/office/drawing/2014/main" id="{82DBE4E1-3D06-29A2-9FC6-D4BC61021980}"/>
              </a:ext>
            </a:extLst>
          </p:cNvPr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e090e42e21_0_6"/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4" name="Google Shape;184;g3e090e42e21_0_6" title="chartA_two_panel_summary_NO_legen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73" y="1881982"/>
            <a:ext cx="12125077" cy="4957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e090e42e21_0_6" title="legendA2_metrics.png"/>
          <p:cNvPicPr preferRelativeResize="0"/>
          <p:nvPr/>
        </p:nvPicPr>
        <p:blipFill rotWithShape="1">
          <a:blip r:embed="rId4">
            <a:alphaModFix/>
          </a:blip>
          <a:srcRect l="22437" t="42411" r="22328" b="28871"/>
          <a:stretch>
            <a:fillRect/>
          </a:stretch>
        </p:blipFill>
        <p:spPr>
          <a:xfrm>
            <a:off x="9687316" y="1091451"/>
            <a:ext cx="2468422" cy="411592"/>
          </a:xfrm>
          <a:prstGeom prst="rect">
            <a:avLst/>
          </a:prstGeom>
          <a:noFill/>
          <a:ln>
            <a:noFill/>
          </a:ln>
        </p:spPr>
      </p:pic>
      <p:sp>
        <p:nvSpPr>
          <p:cNvPr id="700007" name="Pulse Line Accent"/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pic>
        <p:nvPicPr>
          <p:cNvPr id="185" name="Google Shape;185;g3e090e42e21_0_6" title="legendA1_regions.png"/>
          <p:cNvPicPr preferRelativeResize="0"/>
          <p:nvPr/>
        </p:nvPicPr>
        <p:blipFill rotWithShape="1">
          <a:blip r:embed="rId5">
            <a:alphaModFix/>
          </a:blip>
          <a:srcRect l="31025" t="38480" r="31085" b="27228"/>
          <a:stretch>
            <a:fillRect/>
          </a:stretch>
        </p:blipFill>
        <p:spPr>
          <a:xfrm>
            <a:off x="9671745" y="1576762"/>
            <a:ext cx="2456381" cy="50454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e090e42e21_0_6"/>
          <p:cNvSpPr txBox="1"/>
          <p:nvPr/>
        </p:nvSpPr>
        <p:spPr>
          <a:xfrm>
            <a:off x="63874" y="411600"/>
            <a:ext cx="870537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Predicting Staffed Capacity Risk (GBM+SVM)</a:t>
            </a:r>
            <a:endParaRPr sz="12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61A45-EBCA-F442-9B0C-5FFB4E63A0D4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 Selection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54A00D-8402-F87B-3742-6E9BE01C7383}"/>
              </a:ext>
            </a:extLst>
          </p:cNvPr>
          <p:cNvSpPr txBox="1"/>
          <p:nvPr/>
        </p:nvSpPr>
        <p:spPr>
          <a:xfrm>
            <a:off x="9400000" y="6590355"/>
            <a:ext cx="3043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HIGH = &gt;85% Staffed Capacity</a:t>
            </a:r>
          </a:p>
        </p:txBody>
      </p:sp>
      <p:sp>
        <p:nvSpPr>
          <p:cNvPr id="13" name="Google Shape;187;g3e090e42e21_0_6">
            <a:extLst>
              <a:ext uri="{FF2B5EF4-FFF2-40B4-BE49-F238E27FC236}">
                <a16:creationId xmlns:a16="http://schemas.microsoft.com/office/drawing/2014/main" id="{02BA4488-AAB7-97CB-F601-207F509A8326}"/>
              </a:ext>
            </a:extLst>
          </p:cNvPr>
          <p:cNvSpPr txBox="1"/>
          <p:nvPr/>
        </p:nvSpPr>
        <p:spPr>
          <a:xfrm>
            <a:off x="2051085" y="1316112"/>
            <a:ext cx="763485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2900"/>
            </a:pPr>
            <a:r>
              <a:rPr lang="en-US" sz="1600" dirty="0">
                <a:solidFill>
                  <a:schemeClr val="dk1"/>
                </a:solidFill>
              </a:rPr>
              <a:t>🟢 </a:t>
            </a:r>
            <a:r>
              <a:rPr lang="en-US" sz="1600" i="1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triggers early warnings and </a:t>
            </a:r>
            <a:r>
              <a:rPr lang="en-US" sz="1600" i="1" dirty="0">
                <a:solidFill>
                  <a:schemeClr val="tx1"/>
                </a:solidFill>
              </a:rPr>
              <a:t>enables proactive actions to safeguard patient care</a:t>
            </a:r>
            <a:endParaRPr sz="1600" i="1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A6995FF-8B1E-EC4A-2CC3-6CBA0A395A77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9B7D6AC6-9B22-FCD0-ABA9-C3D9A479D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>
            <a:extLst>
              <a:ext uri="{FF2B5EF4-FFF2-40B4-BE49-F238E27FC236}">
                <a16:creationId xmlns:a16="http://schemas.microsoft.com/office/drawing/2014/main" id="{49575885-F34B-2423-8996-2989BC12FFE8}"/>
              </a:ext>
            </a:extLst>
          </p:cNvPr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800"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>
            <a:extLst>
              <a:ext uri="{FF2B5EF4-FFF2-40B4-BE49-F238E27FC236}">
                <a16:creationId xmlns:a16="http://schemas.microsoft.com/office/drawing/2014/main" id="{19AC257D-4D51-A308-37D8-A128BE0A7B8E}"/>
              </a:ext>
            </a:extLst>
          </p:cNvPr>
          <p:cNvSpPr txBox="1"/>
          <p:nvPr/>
        </p:nvSpPr>
        <p:spPr>
          <a:xfrm>
            <a:off x="63875" y="425245"/>
            <a:ext cx="123627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200"/>
            </a:pPr>
            <a:r>
              <a:rPr lang="en-US" sz="3200" dirty="0">
                <a:solidFill>
                  <a:schemeClr val="bg2"/>
                </a:solidFill>
              </a:rPr>
              <a:t>Python </a:t>
            </a: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sz="14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>
            <a:extLst>
              <a:ext uri="{FF2B5EF4-FFF2-40B4-BE49-F238E27FC236}">
                <a16:creationId xmlns:a16="http://schemas.microsoft.com/office/drawing/2014/main" id="{1B41F366-2817-3AB4-EA8C-AC3DDDCF7FFB}"/>
              </a:ext>
            </a:extLst>
          </p:cNvPr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0005" name="Pulse Line Accent">
            <a:extLst>
              <a:ext uri="{FF2B5EF4-FFF2-40B4-BE49-F238E27FC236}">
                <a16:creationId xmlns:a16="http://schemas.microsoft.com/office/drawing/2014/main" id="{76130B36-F7C0-7979-F323-7423AEF03AAA}"/>
              </a:ext>
            </a:extLst>
          </p:cNvPr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45E2339-B3F2-563D-2110-1C3C2FCC346C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AEB549-3931-B5FD-5F9C-C2BCD0766EFF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Executable Script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9E79B2A-F3B9-D1FE-6785-CE3023D5D6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943271"/>
              </p:ext>
            </p:extLst>
          </p:nvPr>
        </p:nvGraphicFramePr>
        <p:xfrm>
          <a:off x="1353307" y="4118611"/>
          <a:ext cx="8708159" cy="1231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3727269" imgH="526915" progId="Package">
                  <p:embed/>
                </p:oleObj>
              </mc:Choice>
              <mc:Fallback>
                <p:oleObj name="Packager Shell Object" showAsIcon="1" r:id="rId3" imgW="3727269" imgH="526915" progId="Packag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09E79B2A-F3B9-D1FE-6785-CE3023D5D6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3307" y="4118611"/>
                        <a:ext cx="8708159" cy="1231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4A970C1-7633-E07A-925D-AF299D0859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717265"/>
              </p:ext>
            </p:extLst>
          </p:nvPr>
        </p:nvGraphicFramePr>
        <p:xfrm>
          <a:off x="1503433" y="1769370"/>
          <a:ext cx="8441568" cy="1183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3759268" imgH="526915" progId="Package">
                  <p:embed/>
                </p:oleObj>
              </mc:Choice>
              <mc:Fallback>
                <p:oleObj name="Packager Shell Object" showAsIcon="1" r:id="rId5" imgW="3759268" imgH="526915" progId="Package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4A970C1-7633-E07A-925D-AF299D0859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3433" y="1769370"/>
                        <a:ext cx="8441568" cy="1183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B0D435E-DA18-0E85-665F-E2E23426427E}"/>
              </a:ext>
            </a:extLst>
          </p:cNvPr>
          <p:cNvSpPr txBox="1"/>
          <p:nvPr/>
        </p:nvSpPr>
        <p:spPr>
          <a:xfrm>
            <a:off x="5015552" y="1170725"/>
            <a:ext cx="1426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3200"/>
            </a:pPr>
            <a:r>
              <a:rPr lang="en-US" sz="2400" dirty="0">
                <a:solidFill>
                  <a:schemeClr val="bg2"/>
                </a:solidFill>
              </a:rPr>
              <a:t>Baseline</a:t>
            </a:r>
            <a:endParaRPr lang="en-US" sz="24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5FAC4-107C-A716-CA45-B0605F7745A3}"/>
              </a:ext>
            </a:extLst>
          </p:cNvPr>
          <p:cNvSpPr txBox="1"/>
          <p:nvPr/>
        </p:nvSpPr>
        <p:spPr>
          <a:xfrm>
            <a:off x="5015552" y="3385480"/>
            <a:ext cx="1426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3200"/>
            </a:pPr>
            <a:r>
              <a:rPr lang="en-US" sz="24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Refined</a:t>
            </a:r>
          </a:p>
        </p:txBody>
      </p:sp>
    </p:spTree>
    <p:extLst>
      <p:ext uri="{BB962C8B-B14F-4D97-AF65-F5344CB8AC3E}">
        <p14:creationId xmlns:p14="http://schemas.microsoft.com/office/powerpoint/2010/main" val="675629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5465B94B-A6E4-7DC3-42E8-27F36F67B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>
            <a:extLst>
              <a:ext uri="{FF2B5EF4-FFF2-40B4-BE49-F238E27FC236}">
                <a16:creationId xmlns:a16="http://schemas.microsoft.com/office/drawing/2014/main" id="{96229880-1840-053C-453C-9D443FB06DDE}"/>
              </a:ext>
            </a:extLst>
          </p:cNvPr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800"/>
            </a:pPr>
            <a:endParaRPr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>
            <a:extLst>
              <a:ext uri="{FF2B5EF4-FFF2-40B4-BE49-F238E27FC236}">
                <a16:creationId xmlns:a16="http://schemas.microsoft.com/office/drawing/2014/main" id="{142B9AA1-16A0-0399-45E7-DCEB16C40622}"/>
              </a:ext>
            </a:extLst>
          </p:cNvPr>
          <p:cNvSpPr txBox="1"/>
          <p:nvPr/>
        </p:nvSpPr>
        <p:spPr>
          <a:xfrm>
            <a:off x="63875" y="425245"/>
            <a:ext cx="123627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200"/>
            </a:pPr>
            <a:r>
              <a:rPr lang="en-US" sz="3200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User Manual </a:t>
            </a:r>
            <a:r>
              <a:rPr lang="en-US" i="0" u="none" strike="noStrike" cap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(Click to read)</a:t>
            </a:r>
            <a:endParaRPr sz="1400" i="0" u="none" strike="noStrike" cap="none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>
            <a:extLst>
              <a:ext uri="{FF2B5EF4-FFF2-40B4-BE49-F238E27FC236}">
                <a16:creationId xmlns:a16="http://schemas.microsoft.com/office/drawing/2014/main" id="{DDC4D87C-3CE0-27A6-FBE3-A251AF9C1610}"/>
              </a:ext>
            </a:extLst>
          </p:cNvPr>
          <p:cNvSpPr/>
          <p:nvPr/>
        </p:nvSpPr>
        <p:spPr>
          <a:xfrm>
            <a:off x="-1375" y="0"/>
            <a:ext cx="12191700" cy="411600"/>
          </a:xfrm>
          <a:prstGeom prst="rect">
            <a:avLst/>
          </a:prstGeom>
          <a:solidFill>
            <a:srgbClr val="152C4C"/>
          </a:solidFill>
          <a:ln>
            <a:noFill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0005" name="Pulse Line Accent">
            <a:extLst>
              <a:ext uri="{FF2B5EF4-FFF2-40B4-BE49-F238E27FC236}">
                <a16:creationId xmlns:a16="http://schemas.microsoft.com/office/drawing/2014/main" id="{FF31D8F1-5E37-6739-FAF3-94241F29B029}"/>
              </a:ext>
            </a:extLst>
          </p:cNvPr>
          <p:cNvSpPr/>
          <p:nvPr/>
        </p:nvSpPr>
        <p:spPr>
          <a:xfrm>
            <a:off x="9400000" y="80000"/>
            <a:ext cx="2600000" cy="260000"/>
          </a:xfrm>
          <a:custGeom>
            <a:avLst/>
            <a:gdLst/>
            <a:ahLst/>
            <a:cxnLst/>
            <a:rect l="0" t="0" r="0" b="0"/>
            <a:pathLst>
              <a:path w="1000" h="100">
                <a:moveTo>
                  <a:pt x="0" y="50"/>
                </a:moveTo>
                <a:lnTo>
                  <a:pt x="300" y="50"/>
                </a:lnTo>
                <a:lnTo>
                  <a:pt x="340" y="40"/>
                </a:lnTo>
                <a:lnTo>
                  <a:pt x="380" y="80"/>
                </a:lnTo>
                <a:lnTo>
                  <a:pt x="420" y="10"/>
                </a:lnTo>
                <a:lnTo>
                  <a:pt x="460" y="95"/>
                </a:lnTo>
                <a:lnTo>
                  <a:pt x="500" y="50"/>
                </a:lnTo>
                <a:lnTo>
                  <a:pt x="560" y="50"/>
                </a:lnTo>
                <a:lnTo>
                  <a:pt x="600" y="35"/>
                </a:lnTo>
                <a:lnTo>
                  <a:pt x="640" y="65"/>
                </a:lnTo>
                <a:lnTo>
                  <a:pt x="680" y="50"/>
                </a:lnTo>
                <a:lnTo>
                  <a:pt x="1000" y="50"/>
                </a:lnTo>
              </a:path>
            </a:pathLst>
          </a:custGeom>
          <a:noFill/>
          <a:ln w="22225" cap="rnd">
            <a:solidFill>
              <a:srgbClr val="5BC7E8"/>
            </a:solidFill>
            <a:round/>
          </a:ln>
        </p:spPr>
        <p:txBody>
          <a:bodyPr wrap="square" rtlCol="0" anchor="ctr"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7E365A6-9873-9640-1FA8-95F8D308E4A5}"/>
              </a:ext>
            </a:extLst>
          </p:cNvPr>
          <p:cNvCxnSpPr>
            <a:cxnSpLocks/>
          </p:cNvCxnSpPr>
          <p:nvPr/>
        </p:nvCxnSpPr>
        <p:spPr>
          <a:xfrm>
            <a:off x="63875" y="1010245"/>
            <a:ext cx="11804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166091E-84EE-6A08-5E67-E96ACE03C77B}"/>
              </a:ext>
            </a:extLst>
          </p:cNvPr>
          <p:cNvSpPr txBox="1"/>
          <p:nvPr/>
        </p:nvSpPr>
        <p:spPr>
          <a:xfrm>
            <a:off x="63875" y="80000"/>
            <a:ext cx="2283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READ.ME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64FF5C-3B0E-9896-3D9A-6A48230D3A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225848"/>
              </p:ext>
            </p:extLst>
          </p:nvPr>
        </p:nvGraphicFramePr>
        <p:xfrm>
          <a:off x="3888091" y="1244607"/>
          <a:ext cx="4156114" cy="537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3886048" imgH="5029200" progId="AcroExch.Document.DC">
                  <p:embed/>
                </p:oleObj>
              </mc:Choice>
              <mc:Fallback>
                <p:oleObj name="Acrobat Document" r:id="rId3" imgW="3886048" imgH="5029200" progId="AcroExch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64FF5C-3B0E-9896-3D9A-6A48230D3A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8091" y="1244607"/>
                        <a:ext cx="4156114" cy="537850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801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629</Words>
  <Application>Microsoft Office PowerPoint</Application>
  <PresentationFormat>Widescreen</PresentationFormat>
  <Paragraphs>101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Play</vt:lpstr>
      <vt:lpstr>Office Theme</vt:lpstr>
      <vt:lpstr>Package</vt:lpstr>
      <vt:lpstr>Adobe 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Katie Hinderscheid</dc:creator>
  <cp:lastModifiedBy>Drew Fleming</cp:lastModifiedBy>
  <cp:revision>219</cp:revision>
  <dcterms:created xsi:type="dcterms:W3CDTF">2026-04-26T14:49:41Z</dcterms:created>
  <dcterms:modified xsi:type="dcterms:W3CDTF">2026-05-16T03:29:04Z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5e2db6-eecf-4aa2-8fc3-174bf94bce19_Enabled">
    <vt:lpwstr>true</vt:lpwstr>
  </property>
  <property fmtid="{D5CDD505-2E9C-101B-9397-08002B2CF9AE}" pid="3" name="MSIP_Label_fb5e2db6-eecf-4aa2-8fc3-174bf94bce19_SetDate">
    <vt:lpwstr>2026-04-28T18:55:49Z</vt:lpwstr>
  </property>
  <property fmtid="{D5CDD505-2E9C-101B-9397-08002B2CF9AE}" pid="4" name="MSIP_Label_fb5e2db6-eecf-4aa2-8fc3-174bf94bce19_Method">
    <vt:lpwstr>Standard</vt:lpwstr>
  </property>
  <property fmtid="{D5CDD505-2E9C-101B-9397-08002B2CF9AE}" pid="5" name="MSIP_Label_fb5e2db6-eecf-4aa2-8fc3-174bf94bce19_Name">
    <vt:lpwstr>fb5e2db6-eecf-4aa2-8fc3-174bf94bce19</vt:lpwstr>
  </property>
  <property fmtid="{D5CDD505-2E9C-101B-9397-08002B2CF9AE}" pid="6" name="MSIP_Label_fb5e2db6-eecf-4aa2-8fc3-174bf94bce19_SiteId">
    <vt:lpwstr>ceb177bf-013b-49ab-8a9c-4abce32afc1e</vt:lpwstr>
  </property>
  <property fmtid="{D5CDD505-2E9C-101B-9397-08002B2CF9AE}" pid="7" name="MSIP_Label_fb5e2db6-eecf-4aa2-8fc3-174bf94bce19_ActionId">
    <vt:lpwstr>f9ab1bb1-b16b-44d3-b2bd-c50588b8cb29</vt:lpwstr>
  </property>
  <property fmtid="{D5CDD505-2E9C-101B-9397-08002B2CF9AE}" pid="8" name="MSIP_Label_fb5e2db6-eecf-4aa2-8fc3-174bf94bce19_ContentBits">
    <vt:lpwstr>2</vt:lpwstr>
  </property>
  <property fmtid="{D5CDD505-2E9C-101B-9397-08002B2CF9AE}" pid="9" name="MSIP_Label_fb5e2db6-eecf-4aa2-8fc3-174bf94bce19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Caterpillar: Confidential Green</vt:lpwstr>
  </property>
</Properties>
</file>